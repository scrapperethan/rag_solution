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4389120" cy="438912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3291840"/>
            <a:ext cx="3108960" cy="3108960"/>
          </a:xfrm>
          <a:prstGeom prst="ellipse">
            <a:avLst/>
          </a:prstGeom>
          <a:solidFill>
            <a:srgbClr val="0D9488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F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 ·  SOLUTION ARCHITECTURE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1248" y="19202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Confluence Knowledge Assistant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30632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approaches, key components, and a recommended direction — for review.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411480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90472" y="41148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97480" y="411480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19272" y="41148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26280" y="41148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148072" y="41148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6263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Ethan  ·  June 2026  ·  for direction &amp; approval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building — and your decision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691640"/>
            <a:ext cx="52486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41248" y="2002536"/>
            <a:ext cx="219456" cy="219456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91109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59536" y="2478024"/>
            <a:ext cx="4791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Q&amp;A over our Confluence space — every answer cites its source.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9496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1072" y="1691640"/>
            <a:ext cx="52486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10528" y="2002536"/>
            <a:ext cx="219456" cy="219456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0" y="191109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28816" y="2478024"/>
            <a:ext cx="4791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GPT-5.5 · MCP access to Confluence · pgvector. Minimal new infra.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539496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657600"/>
            <a:ext cx="52486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41248" y="3968496"/>
            <a:ext cx="219456" cy="219456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387705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PoC scope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9536" y="4443984"/>
            <a:ext cx="4791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vertical slice + an evaluation harness to compare approaches objectively.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217920" y="3657600"/>
            <a:ext cx="5394960" cy="1737360"/>
          </a:xfrm>
          <a:prstGeom prst="roundRect">
            <a:avLst>
              <a:gd name="adj" fmla="val 3684"/>
            </a:avLst>
          </a:prstGeom>
          <a:solidFill>
            <a:srgbClr val="E2F1F0"/>
          </a:solidFill>
          <a:ln w="1778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91072" y="3657600"/>
            <a:ext cx="52486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10528" y="3968496"/>
            <a:ext cx="219456" cy="21945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387705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decision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28816" y="4443984"/>
            <a:ext cx="4791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direction &amp; resourcing. Engineering executes the build.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pipeline — the options differ only in the middle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03504" y="1874520"/>
            <a:ext cx="1810512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94944" y="198424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Confluence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04088" y="2350008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414016" y="1874520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AA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889504" y="1874520"/>
            <a:ext cx="1810512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80944" y="198424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 · MCP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90088" y="2350008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Markdown; metadata + ancestor path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00016" y="1874520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AA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175504" y="1874520"/>
            <a:ext cx="1810512" cy="1097280"/>
          </a:xfrm>
          <a:prstGeom prst="roundRect">
            <a:avLst>
              <a:gd name="adj" fmla="val 5833"/>
            </a:avLst>
          </a:prstGeom>
          <a:solidFill>
            <a:srgbClr val="E2F1F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66944" y="198424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76088" y="2350008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searchable form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986016" y="1874520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AA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461504" y="1874520"/>
            <a:ext cx="1810512" cy="1097280"/>
          </a:xfrm>
          <a:prstGeom prst="roundRect">
            <a:avLst>
              <a:gd name="adj" fmla="val 5833"/>
            </a:avLst>
          </a:prstGeom>
          <a:solidFill>
            <a:srgbClr val="E2F1F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52944" y="198424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Retrieve + Reason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62088" y="2350008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+ decide how to answer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272016" y="1874520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AA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9747504" y="1874520"/>
            <a:ext cx="1810512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838944" y="198424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848088" y="2350008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+ cited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175504" y="3026664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options A / B / C differ here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" y="3611880"/>
            <a:ext cx="4078224" cy="1783080"/>
          </a:xfrm>
          <a:prstGeom prst="roundRect">
            <a:avLst>
              <a:gd name="adj" fmla="val 3590"/>
            </a:avLst>
          </a:prstGeom>
          <a:solidFill>
            <a:srgbClr val="F1F5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" y="3611880"/>
            <a:ext cx="3931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32104" y="37673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backbone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32104" y="4206240"/>
            <a:ext cx="3639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(MCP, metadata, ancestor path) and grounded, cited answers are common to all three options — built once, reused.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175504" y="3611880"/>
            <a:ext cx="5888736" cy="1783080"/>
          </a:xfrm>
          <a:prstGeom prst="roundRect">
            <a:avLst>
              <a:gd name="adj" fmla="val 3590"/>
            </a:avLst>
          </a:prstGeom>
          <a:solidFill>
            <a:srgbClr val="EAF4F3"/>
          </a:solidFill>
          <a:ln w="12700">
            <a:solidFill>
              <a:srgbClr val="E2F1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48656" y="3611880"/>
            <a:ext cx="574243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04104" y="37673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A / B / C differ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5404104" y="4224528"/>
            <a:ext cx="5440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—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+ embeddings (pgvector)  ·  cross-page topic cards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—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+ BM25 (RRF) · rerank  ·  agent: card ↔ source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share ingestion and grounded answers; they diverge only at Index and Reason.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· RAG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Search-based retrieval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972800" y="41148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03504" y="2011680"/>
            <a:ext cx="181051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94944" y="212140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Chunk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04088" y="2487168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structure-aware (H2/H3, tables intact)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14016" y="2011680"/>
            <a:ext cx="475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2889504" y="2011680"/>
            <a:ext cx="181051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80944" y="212140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Embed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990088" y="2487168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vectors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00016" y="2011680"/>
            <a:ext cx="475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175504" y="2011680"/>
            <a:ext cx="181051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66944" y="212140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retrieve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276088" y="2487168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+ BM25, fused (RRF)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86016" y="2011680"/>
            <a:ext cx="475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7461504" y="2011680"/>
            <a:ext cx="181051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552944" y="212140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Rerank + filter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562088" y="2487168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 · metadata facets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272016" y="2011680"/>
            <a:ext cx="475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9747504" y="2011680"/>
            <a:ext cx="181051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838944" y="212140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848088" y="2487168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source citation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97764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3977640"/>
            <a:ext cx="10917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68680" y="39776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Strong: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factual lookups; full coverage; low build effort.   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0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Watch: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on cross-page synthesis; no business-curated view.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nodes: pgvector (exact search at PoC scale; HNSW later) · Postgres tsvector for BM25 · pluggable multilingual embeddings.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· CURATED CARDS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Cross-page summary cards (map-reduce)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972800" y="411480"/>
            <a:ext cx="822960" cy="8229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03504" y="2011680"/>
            <a:ext cx="242316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94944" y="212140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SME framework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4088" y="2487168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topics + keyword list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26664" y="201168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529584" y="2011680"/>
            <a:ext cx="242316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21024" y="212140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 (all pages)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30168" y="2487168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per-page extract · self-tag keywords · record anchors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52744" y="201168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455664" y="2011680"/>
            <a:ext cx="242316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47104" y="212140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56248" y="2487168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keyword → topic card; precise fields keep anchors; conflicts by version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878824" y="201168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9381744" y="2011680"/>
            <a:ext cx="242316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473184" y="212140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 store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482328" y="2487168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keyword→page index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16052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4EEFB"/>
          </a:solidFill>
          <a:ln w="12700">
            <a:solidFill>
              <a:srgbClr val="F1EA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4160520"/>
            <a:ext cx="10917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68680" y="41605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Byproduct: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keyword→page index is an SME review surface + surfaces topics business missed.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runs over ALL pages (not just the SME-flagged ~70–80%) — that's how the index recovers what was missed.  Watch: summaries can drop precise detail; needs SME time.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 · AGENTIC  (PROPOSED DIRECTION)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Card-first, drill to source on demand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972800" y="41148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251960" y="1481328"/>
            <a:ext cx="3657600" cy="475488"/>
          </a:xfrm>
          <a:prstGeom prst="roundRect">
            <a:avLst>
              <a:gd name="adj" fmla="val 13462"/>
            </a:avLst>
          </a:prstGeom>
          <a:solidFill>
            <a:srgbClr val="F1F5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25112" y="1481328"/>
            <a:ext cx="3511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Incoming question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897880" y="1938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0" y="2212848"/>
            <a:ext cx="576072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73552" y="2212848"/>
            <a:ext cx="56144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Route: find relevant card  (page-tree · keyword · vector)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93976" y="288950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3504" y="3200400"/>
            <a:ext cx="3346704" cy="566928"/>
          </a:xfrm>
          <a:prstGeom prst="roundRect">
            <a:avLst>
              <a:gd name="adj" fmla="val 11290"/>
            </a:avLst>
          </a:prstGeom>
          <a:solidFill>
            <a:srgbClr val="E2F1F0"/>
          </a:solidFill>
          <a:ln w="12700">
            <a:solidFill>
              <a:srgbClr val="E2F1F0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" y="32004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Conceptual / synthesis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93976" y="37490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3504" y="3931920"/>
            <a:ext cx="3346704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6656" y="3931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 from card narrative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093976" y="45902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3504" y="4773168"/>
            <a:ext cx="3346704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6656" y="47731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Cite card + source pages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897880" y="288950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07408" y="3200400"/>
            <a:ext cx="3346704" cy="566928"/>
          </a:xfrm>
          <a:prstGeom prst="roundRect">
            <a:avLst>
              <a:gd name="adj" fmla="val 11290"/>
            </a:avLst>
          </a:prstGeom>
          <a:solidFill>
            <a:srgbClr val="E8EEFB"/>
          </a:solidFill>
          <a:ln w="12700">
            <a:solidFill>
              <a:srgbClr val="E8EEFB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480560" y="32004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Precise · value in card (+anchor)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97880" y="37490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07408" y="3931920"/>
            <a:ext cx="3346704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480560" y="3931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 + cite source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701784" y="288950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11312" y="3200400"/>
            <a:ext cx="3346704" cy="566928"/>
          </a:xfrm>
          <a:prstGeom prst="roundRect">
            <a:avLst>
              <a:gd name="adj" fmla="val 11290"/>
            </a:avLst>
          </a:prstGeom>
          <a:solidFill>
            <a:srgbClr val="F1EAFB"/>
          </a:solidFill>
          <a:ln w="12700">
            <a:solidFill>
              <a:srgbClr val="F1EAFB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284464" y="32004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Precise · pointer only, or no card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701784" y="37490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11312" y="3931920"/>
            <a:ext cx="3346704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284464" y="3931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Drill: fetch source chunk (RAG)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701784" y="45902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11312" y="4773168"/>
            <a:ext cx="3346704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284464" y="47731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 + cite source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5806440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15233B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5806440"/>
            <a:ext cx="10917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914400" y="5806440"/>
            <a:ext cx="10332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F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rule: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factual claim must cite a source — no anchored value ⇒ drill.   Follow-up or doubt ⇒ force a drill.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DECIDE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Evidence-based selection — the real PoC deliverable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03504" y="1874520"/>
            <a:ext cx="320040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94944" y="19842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Golden set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04088" y="2350008"/>
            <a:ext cx="2999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questions, decoupled from index-questions; incl. multi-hop, exact-ID, out-of-scope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03904" y="1874520"/>
            <a:ext cx="502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06824" y="1874520"/>
            <a:ext cx="320040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98264" y="19842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variants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07408" y="2350008"/>
            <a:ext cx="2999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options on one frozen set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507224" y="1874520"/>
            <a:ext cx="502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010144" y="1874520"/>
            <a:ext cx="320040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01584" y="19842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10728" y="2350008"/>
            <a:ext cx="2999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metric, apples-to-apples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611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E2F1F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31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recall@k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286000" y="393192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E2F1F0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0" y="3931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06240" y="3931920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E2F1F0"/>
          </a:solidFill>
          <a:ln/>
        </p:spPr>
      </p:sp>
      <p:sp>
        <p:nvSpPr>
          <p:cNvPr id="21" name="Text 19"/>
          <p:cNvSpPr/>
          <p:nvPr/>
        </p:nvSpPr>
        <p:spPr>
          <a:xfrm>
            <a:off x="4206240" y="3931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precision / recall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223760" y="393192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E2F1F0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0" y="3931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recall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601200" y="393192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E2F1F0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0" y="3931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6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under-drill rate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89204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4892040"/>
            <a:ext cx="10917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68680" y="48920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Tooling: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/ DeepEval; LLM-as-judge (gpt-5.5) calibrated against a human-labelled subset. The PoC's deliverable is this scorecard — direction follows the evidence.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options compare</a:t>
            </a:r>
            <a:endParaRPr lang="en-US" sz="2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468880"/>
                <a:gridCol w="2468880"/>
                <a:gridCol w="24688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6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· RAG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· Cards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· Agentic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Precise factual accuracy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Low–Med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Cross-page synthesis / multi-hop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of all content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Grounding &amp; citations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effort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Low–Med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 maintenance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Med–High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SME dependency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Med–High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Curated wiki byproduct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winner — A and C lead on precision &amp; coverage; B and C lead on synthesis. C combines both at higher build cost.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DIRECTION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in stages — each gated by evaluation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03504" y="1920240"/>
            <a:ext cx="320040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6656" y="1920240"/>
            <a:ext cx="30540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77824" y="2176272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21762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63624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7824" y="2834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baseline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77824" y="33375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+ hybrid retrieval + eval harness. Ships a working, cited assistant.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803904" y="2468880"/>
            <a:ext cx="731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03904" y="32461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4535424" y="1920240"/>
            <a:ext cx="320040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08576" y="1920240"/>
            <a:ext cx="30540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09744" y="2176272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4809744" y="21762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95544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9744" y="2834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Cross-page cards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4809744" y="33375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Map-reduce topic cards. Adds synthesis &amp; navigation; reuses Phase 1 as the floor.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35824" y="2468880"/>
            <a:ext cx="731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35824" y="32461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8467344" y="1920240"/>
            <a:ext cx="320040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8100000">
              <a:srgbClr val="1E293B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540496" y="1920240"/>
            <a:ext cx="30540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741664" y="2176272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8741664" y="21762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427464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741664" y="2834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(Option C)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8741664" y="33375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Card-first + drill-to-source. Best precision + big-picture, fully cited.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4526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is independently useful; we advance only when the scores justify it.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502920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E2F1F0"/>
          </a:solidFill>
          <a:ln w="12700">
            <a:solidFill>
              <a:srgbClr val="E2F1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5029200"/>
            <a:ext cx="10917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14400" y="502920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Net: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lands at Phase 1; B and C are upgrades on the same backbone, de-risked by the eval gates.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proceed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6F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&amp; resource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5212080" cy="777240"/>
          </a:xfrm>
          <a:prstGeom prst="roundRect">
            <a:avLst>
              <a:gd name="adj" fmla="val 8235"/>
            </a:avLst>
          </a:prstGeom>
          <a:solidFill>
            <a:srgbClr val="22364F"/>
          </a:solidFill>
          <a:ln w="12700">
            <a:solidFill>
              <a:srgbClr val="2236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993392"/>
            <a:ext cx="5065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86384" y="2185416"/>
            <a:ext cx="402336" cy="402336"/>
          </a:xfrm>
          <a:prstGeom prst="ellipse">
            <a:avLst/>
          </a:prstGeom>
          <a:solidFill>
            <a:srgbClr val="E098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185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89888" y="206654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phased direction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907792"/>
            <a:ext cx="5212080" cy="777240"/>
          </a:xfrm>
          <a:prstGeom prst="roundRect">
            <a:avLst>
              <a:gd name="adj" fmla="val 8235"/>
            </a:avLst>
          </a:prstGeom>
          <a:solidFill>
            <a:srgbClr val="22364F"/>
          </a:solidFill>
          <a:ln w="12700">
            <a:solidFill>
              <a:srgbClr val="2236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907792"/>
            <a:ext cx="5065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86384" y="3099816"/>
            <a:ext cx="402336" cy="402336"/>
          </a:xfrm>
          <a:prstGeom prst="ellipse">
            <a:avLst/>
          </a:prstGeom>
          <a:solidFill>
            <a:srgbClr val="E0982E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099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89888" y="298094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SME time — define keywords + review (key for B &amp; C)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822192"/>
            <a:ext cx="5212080" cy="777240"/>
          </a:xfrm>
          <a:prstGeom prst="roundRect">
            <a:avLst>
              <a:gd name="adj" fmla="val 8235"/>
            </a:avLst>
          </a:prstGeom>
          <a:solidFill>
            <a:srgbClr val="22364F"/>
          </a:solidFill>
          <a:ln w="12700">
            <a:solidFill>
              <a:srgbClr val="2236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822192"/>
            <a:ext cx="5065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86384" y="4014216"/>
            <a:ext cx="402336" cy="402336"/>
          </a:xfrm>
          <a:prstGeom prst="ellipse">
            <a:avLst/>
          </a:prstGeom>
          <a:solidFill>
            <a:srgbClr val="E0982E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014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89888" y="389534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already available: GPT-5.5 + pgvector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26480" y="16002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6F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technical decisions — your input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26480" y="1993392"/>
            <a:ext cx="5486400" cy="2606040"/>
          </a:xfrm>
          <a:prstGeom prst="roundRect">
            <a:avLst>
              <a:gd name="adj" fmla="val 2456"/>
            </a:avLst>
          </a:prstGeom>
          <a:solidFill>
            <a:srgbClr val="22364F"/>
          </a:solidFill>
          <a:ln w="12700">
            <a:solidFill>
              <a:srgbClr val="2236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9632" y="1993392"/>
            <a:ext cx="534009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355080" y="219456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Embedding model — multilingual / privately deployable?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Query language — zh / en / mixed (drives embeddings)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pgvector now vs. dedicated ANN at full scale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Selection layer — agentic tree-walk vs. vector search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(most of these are settled by the PoC evidence)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4892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TIMELINE  ·  maps to phases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212080"/>
            <a:ext cx="3456432" cy="841248"/>
          </a:xfrm>
          <a:prstGeom prst="roundRect">
            <a:avLst>
              <a:gd name="adj" fmla="val 7609"/>
            </a:avLst>
          </a:prstGeom>
          <a:solidFill>
            <a:srgbClr val="2E4358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5321808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86384" y="5614416"/>
            <a:ext cx="3044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+ eval harness + RAG baseline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61104" y="5212080"/>
            <a:ext cx="3456432" cy="841248"/>
          </a:xfrm>
          <a:prstGeom prst="roundRect">
            <a:avLst>
              <a:gd name="adj" fmla="val 7609"/>
            </a:avLst>
          </a:prstGeom>
          <a:solidFill>
            <a:srgbClr val="2E4358"/>
          </a:solidFill>
          <a:ln/>
        </p:spPr>
      </p:sp>
      <p:sp>
        <p:nvSpPr>
          <p:cNvPr id="29" name="Text 27"/>
          <p:cNvSpPr/>
          <p:nvPr/>
        </p:nvSpPr>
        <p:spPr>
          <a:xfrm>
            <a:off x="4498848" y="5321808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498848" y="5614416"/>
            <a:ext cx="3044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Cross-page cards (map-reduce)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973568" y="5212080"/>
            <a:ext cx="3456432" cy="841248"/>
          </a:xfrm>
          <a:prstGeom prst="roundRect">
            <a:avLst>
              <a:gd name="adj" fmla="val 7609"/>
            </a:avLst>
          </a:prstGeom>
          <a:solidFill>
            <a:srgbClr val="2E4358"/>
          </a:solidFill>
          <a:ln/>
        </p:spPr>
      </p:sp>
      <p:sp>
        <p:nvSpPr>
          <p:cNvPr id="32" name="Text 30"/>
          <p:cNvSpPr/>
          <p:nvPr/>
        </p:nvSpPr>
        <p:spPr>
          <a:xfrm>
            <a:off x="8211312" y="5321808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11312" y="5614416"/>
            <a:ext cx="3044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+ score &amp; recommend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Candidate stack &amp; key terms</a:t>
            </a:r>
            <a:endParaRPr lang="en-US" sz="2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→ Markdown + metadata (space, page_id, ancestor path, labels, version)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pgvector — exact search at PoC scale, HNSW later; halfvec if &gt;2000-dim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pgvector cosine + Postgres tsvector (BM25), fused via RRF; + reranker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pluggable; multilingual (e.g. BGE-m3 / multilingual-e5), private-deployable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GPT-5.5 — summarization, map-reduce, answer synthesis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RAGAS / DeepEval; recall@k, faithfulness, association recall, under-drill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Glossary:  RAG = retrieve-then-answer · grounding = answer from source text + cite · map-reduce = per-page extract then merge · SME = subject-matter expert.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Confluence Knowledge Assistant — Solution Architecture &amp; Direction</dc:title>
  <dc:subject>PptxGenJS Presentation</dc:subject>
  <dc:creator>Ethan</dc:creator>
  <cp:lastModifiedBy>Ethan</cp:lastModifiedBy>
  <cp:revision>1</cp:revision>
  <dcterms:created xsi:type="dcterms:W3CDTF">2026-06-03T15:12:31Z</dcterms:created>
  <dcterms:modified xsi:type="dcterms:W3CDTF">2026-06-03T15:12:31Z</dcterms:modified>
</cp:coreProperties>
</file>