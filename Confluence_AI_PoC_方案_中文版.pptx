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554480"/>
            <a:ext cx="4389120" cy="438912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3291840"/>
            <a:ext cx="3108960" cy="3108960"/>
          </a:xfrm>
          <a:prstGeom prst="ellipse">
            <a:avLst/>
          </a:prstGeom>
          <a:solidFill>
            <a:srgbClr val="0D9488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FC6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概念验证（PoC） · 技术方案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41248" y="187452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为我们的 Confluence 知识库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打造 AI 助手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68680" y="3703320"/>
            <a:ext cx="9692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三种实现方式 —— 区别、优缺点，以及我们建议探索的方向。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68680" y="480060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90472" y="48006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480060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182112" y="48006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51960" y="48006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873752" y="480060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C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汇报人：Ethan · 2026 年 6 月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为什么是现在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机会所在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我们团队的知识沉淀在一个庞大、结构清晰的 Confluence 空间里 —— 但要找到正确答案既慢，又往往取决于你问的是谁。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3456432" cy="2240280"/>
          </a:xfrm>
          <a:prstGeom prst="roundRect">
            <a:avLst>
              <a:gd name="adj" fmla="val 367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688336"/>
            <a:ext cx="237744" cy="237744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1207008" y="2596896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藏得深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9536" y="3218688"/>
            <a:ext cx="28529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文档成百上千、层级很深 —— 答案很难定位。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261104" y="2377440"/>
            <a:ext cx="3456432" cy="2240280"/>
          </a:xfrm>
          <a:prstGeom prst="roundRect">
            <a:avLst>
              <a:gd name="adj" fmla="val 3673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3712" y="2688336"/>
            <a:ext cx="237744" cy="237744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1" name="Text 9"/>
          <p:cNvSpPr/>
          <p:nvPr/>
        </p:nvSpPr>
        <p:spPr>
          <a:xfrm>
            <a:off x="4919472" y="2596896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反复问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3218688"/>
            <a:ext cx="28529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同样的问题被反复提问；专家不断被打断。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7973568" y="2377440"/>
            <a:ext cx="3456432" cy="2240280"/>
          </a:xfrm>
          <a:prstGeom prst="roundRect">
            <a:avLst>
              <a:gd name="adj" fmla="val 3673"/>
            </a:avLst>
          </a:prstGeom>
          <a:solidFill>
            <a:srgbClr val="E6F3F2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66176" y="2688336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8631936" y="2596896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84464" y="3218688"/>
            <a:ext cx="285292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一个基于我们自己文档作答的助手 —— 每个答案都链接到出处。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48640" y="493776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15233B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3776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 PoC 对比三种实现方式 —— </a:t>
            </a:r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并基于证据而非主观判断，推荐其中一种。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三种方案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三种实现方式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56432" cy="370332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093976"/>
            <a:ext cx="566928" cy="56692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859536" y="20939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9536" y="2843784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检索式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59536" y="333756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9536" y="3703320"/>
            <a:ext cx="28529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找出最相关的文档片段，并据此作答。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61104" y="1783080"/>
            <a:ext cx="3456432" cy="370332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093976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0939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2843784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精选知识卡片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572000" y="333756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纯总结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0" y="3703320"/>
            <a:ext cx="28529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业务定义关键主题；AI 为每个主题写一张总结卡片，并据此作答。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973568" y="1783080"/>
            <a:ext cx="3456432" cy="370332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84464" y="2093976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8284464" y="20939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84464" y="2843784"/>
            <a:ext cx="2852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智能助手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8284464" y="333756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84464" y="3703320"/>
            <a:ext cx="28529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用卡片作答，遇到需要精确细节时自动核对原文。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三种方式都会链接回原始 Confluence 页面。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检索式（RAG）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018520" y="457200"/>
            <a:ext cx="868680" cy="8686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11018520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91056"/>
            <a:ext cx="11064240" cy="877824"/>
          </a:xfrm>
          <a:prstGeom prst="roundRect">
            <a:avLst>
              <a:gd name="adj" fmla="val 937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591056"/>
            <a:ext cx="10424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工作原理   </a:t>
            </a:r>
            <a:pPr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助手检索全部文档，用找到的最相关片段作答 —— 并附带链接。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553212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9536" y="2980944"/>
            <a:ext cx="219456" cy="219456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89864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6112" y="3520440"/>
            <a:ext cx="4837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精确细节准 —— 直接取原文（数值、代码、步骤）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自动覆盖 Confluence 里的全部内容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构建成本较低；文档更新后易于保持同步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46520" y="2651760"/>
            <a:ext cx="553212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57416" y="2980944"/>
            <a:ext cx="219456" cy="219456"/>
          </a:xfrm>
          <a:prstGeom prst="ellipse">
            <a:avLst/>
          </a:prstGeom>
          <a:solidFill>
            <a:srgbClr val="E0982E"/>
          </a:solidFill>
          <a:ln/>
        </p:spPr>
      </p:sp>
      <p:sp>
        <p:nvSpPr>
          <p:cNvPr id="14" name="Text 12"/>
          <p:cNvSpPr/>
          <p:nvPr/>
        </p:nvSpPr>
        <p:spPr>
          <a:xfrm>
            <a:off x="7086600" y="289864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9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需要注意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93992" y="3520440"/>
            <a:ext cx="4837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对宏观“全貌”或“彼此如何关联”类问题较弱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看到的是片段，而非全貌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缺少业务视角对“什么最重要”的梳理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B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精选知识卡片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018520" y="457200"/>
            <a:ext cx="868680" cy="8686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11018520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91056"/>
            <a:ext cx="11064240" cy="877824"/>
          </a:xfrm>
          <a:prstGeom prst="roundRect">
            <a:avLst>
              <a:gd name="adj" fmla="val 937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591056"/>
            <a:ext cx="10424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工作原理   </a:t>
            </a:r>
            <a:pPr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业务专家定义关键主题；AI 跨多页阅读，为每个主题写一张总结“卡片”，再据此作答。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553212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9536" y="2980944"/>
            <a:ext cx="219456" cy="219456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89864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6112" y="3520440"/>
            <a:ext cx="4837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擅长宏观和“彼此如何关联”类问题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顺带产出一套干净、人可读的知识库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体现业务自己对“什么重要”的判断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46520" y="2651760"/>
            <a:ext cx="553212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57416" y="2980944"/>
            <a:ext cx="219456" cy="219456"/>
          </a:xfrm>
          <a:prstGeom prst="ellipse">
            <a:avLst/>
          </a:prstGeom>
          <a:solidFill>
            <a:srgbClr val="E0982E"/>
          </a:solidFill>
          <a:ln/>
        </p:spPr>
      </p:sp>
      <p:sp>
        <p:nvSpPr>
          <p:cNvPr id="14" name="Text 12"/>
          <p:cNvSpPr/>
          <p:nvPr/>
        </p:nvSpPr>
        <p:spPr>
          <a:xfrm>
            <a:off x="7086600" y="289864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9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需要注意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93992" y="3520440"/>
            <a:ext cx="4837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完整度取决于业务预选的主题 —— 其他地方会有盲区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总结可能丢失精确细节（具体数值、配置）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需要业务投入实际时间来定义主题并持续维护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 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8595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智能助手（混合）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1018520" y="457200"/>
            <a:ext cx="868680" cy="8686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11018520" y="457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91056"/>
            <a:ext cx="11064240" cy="877824"/>
          </a:xfrm>
          <a:prstGeom prst="roundRect">
            <a:avLst>
              <a:gd name="adj" fmla="val 9375"/>
            </a:avLst>
          </a:prstGeom>
          <a:solidFill>
            <a:srgbClr val="F1F5F9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591056"/>
            <a:ext cx="104241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55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工作原理   </a:t>
            </a:r>
            <a:pPr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用精选卡片快速给出宏观回答 —— 当问题需要精确细节时，自动打开原文核对。始终标注出处。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553212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59536" y="2980944"/>
            <a:ext cx="219456" cy="219456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89864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9E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6112" y="3520440"/>
            <a:ext cx="4837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兼具 B 的宏观能力与 A 的精确度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始终展示出处 —— 答案更可信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尚未整理的内容会回退到全量检索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46520" y="2651760"/>
            <a:ext cx="553212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57416" y="2980944"/>
            <a:ext cx="219456" cy="219456"/>
          </a:xfrm>
          <a:prstGeom prst="ellipse">
            <a:avLst/>
          </a:prstGeom>
          <a:solidFill>
            <a:srgbClr val="E0982E"/>
          </a:solidFill>
          <a:ln/>
        </p:spPr>
      </p:sp>
      <p:sp>
        <p:nvSpPr>
          <p:cNvPr id="14" name="Text 12"/>
          <p:cNvSpPr/>
          <p:nvPr/>
        </p:nvSpPr>
        <p:spPr>
          <a:xfrm>
            <a:off x="7086600" y="2898648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9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需要注意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93992" y="3520440"/>
            <a:ext cx="483717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构建环节最多（融合了两种方案）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卡片仍需业务投入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三者中工程量最大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横向对比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三方案对比</a:t>
            </a:r>
            <a:endParaRPr lang="en-US" sz="2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72768"/>
          <a:ext cx="11064240" cy="914400"/>
        </p:xfrm>
        <a:graphic>
          <a:graphicData uri="http://schemas.openxmlformats.org/drawingml/2006/table">
            <a:tbl>
              <a:tblPr/>
              <a:tblGrid>
                <a:gridCol w="3611880"/>
                <a:gridCol w="2487168"/>
                <a:gridCol w="2487168"/>
                <a:gridCol w="2478024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6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 · 检索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 · 卡片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 · 智能（混合）</a:t>
                      </a:r>
                      <a:endParaRPr lang="en-US" sz="13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精确事实准确度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低–中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宏观 / 全貌类问题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内容覆盖范围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部分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展示出处（可信度）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视情况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构建成本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低–中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最高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持续维护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中–高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所需业务（SME）投入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低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中–高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人可读 wiki 副产品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没有绝对赢家 —— 最优选择取决于哪类问题最重要，以及我们能投入多少业务时间。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如何客观选择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用度量说话，而非猜测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517904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PoC 真正的交付物不是代码 —— 而是证据。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456432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9536" y="244144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2441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59536" y="3136392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收集真实问题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59536" y="3611880"/>
            <a:ext cx="2852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从团队收集真实问题，每个都配一个已知正确答案（“测试集”）。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61104" y="2148840"/>
            <a:ext cx="3456432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244144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441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3136392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三种都跑一遍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2852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用完全相同的问题逐一测试每种方案。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73568" y="2148840"/>
            <a:ext cx="3456432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84464" y="2441448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8284464" y="2441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84464" y="3136392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逐一打分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284464" y="3611880"/>
            <a:ext cx="28529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是否找到了正确信息？答案对不对？有没有标注出处？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E6F3F2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14400" y="48920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  </a:t>
            </a:r>
            <a:pPr indent="0" marL="0">
              <a:buNone/>
            </a:pPr>
            <a:r>
              <a:rPr lang="en-US" sz="165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一张评分表，把决策变成有证据支撑的判断。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9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我们需要什么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为了开展 PoC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22364F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11096"/>
            <a:ext cx="475488" cy="475488"/>
          </a:xfrm>
          <a:prstGeom prst="ellipse">
            <a:avLst/>
          </a:prstGeom>
          <a:solidFill>
            <a:srgbClr val="E0982E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9110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810512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放行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663440" y="1810512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批准在一个聚焦领域开展 4–6 周的 PoC（例如 2026 Planned Project）。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770632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22364F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41248" y="2990088"/>
            <a:ext cx="475488" cy="475488"/>
          </a:xfrm>
          <a:prstGeom prst="ellipse">
            <a:avLst/>
          </a:prstGeom>
          <a:solidFill>
            <a:srgbClr val="E0982E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990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2889504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少量业务时间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2889504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几小时的专家投入，用于定义关键主题并评审结果 —— 这是方案 B、C 的关键依赖。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48640" y="3849624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22364F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4069080"/>
            <a:ext cx="475488" cy="475488"/>
          </a:xfrm>
          <a:prstGeom prst="ellipse">
            <a:avLst/>
          </a:prstGeom>
          <a:solidFill>
            <a:srgbClr val="E0982E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069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3968496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现成的工具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63440" y="3968496"/>
            <a:ext cx="6675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内网 GPT-5.5 加上我们已有的数据库。几乎无需新增投入。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48640" y="5029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C8A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参考时间表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5321808"/>
            <a:ext cx="3456432" cy="841248"/>
          </a:xfrm>
          <a:prstGeom prst="roundRect">
            <a:avLst>
              <a:gd name="adj" fmla="val 7609"/>
            </a:avLst>
          </a:prstGeom>
          <a:solidFill>
            <a:srgbClr val="2E4358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5431536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FC6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1–2 周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04672" y="5724144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搭建一个领域 + 构建测试集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261104" y="5321808"/>
            <a:ext cx="3456432" cy="841248"/>
          </a:xfrm>
          <a:prstGeom prst="roundRect">
            <a:avLst>
              <a:gd name="adj" fmla="val 7609"/>
            </a:avLst>
          </a:prstGeom>
          <a:solidFill>
            <a:srgbClr val="2E4358"/>
          </a:solidFill>
          <a:ln/>
        </p:spPr>
      </p:sp>
      <p:sp>
        <p:nvSpPr>
          <p:cNvPr id="24" name="Text 22"/>
          <p:cNvSpPr/>
          <p:nvPr/>
        </p:nvSpPr>
        <p:spPr>
          <a:xfrm>
            <a:off x="4517136" y="5431536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FC6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3–4 周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17136" y="5724144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搭建并打通各方案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973568" y="5321808"/>
            <a:ext cx="3456432" cy="841248"/>
          </a:xfrm>
          <a:prstGeom prst="roundRect">
            <a:avLst>
              <a:gd name="adj" fmla="val 7609"/>
            </a:avLst>
          </a:prstGeom>
          <a:solidFill>
            <a:srgbClr val="2E4358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0" y="5431536"/>
            <a:ext cx="2999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FC6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5–6 周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229600" y="5724144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打分、对比、给出推荐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9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备用 · 供讨论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我们的倾向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91056"/>
            <a:ext cx="11064240" cy="1188720"/>
          </a:xfrm>
          <a:prstGeom prst="roundRect">
            <a:avLst>
              <a:gd name="adj" fmla="val 6923"/>
            </a:avLst>
          </a:prstGeom>
          <a:solidFill>
            <a:srgbClr val="E6F3F2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91056"/>
            <a:ext cx="109728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591056"/>
            <a:ext cx="10287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7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如果今天就要选：  </a:t>
            </a:r>
            <a:pPr indent="0" marL="0">
              <a:lnSpc>
                <a:spcPct val="108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先用检索（A）做一个快速基线，再逐步演进到智能助手（C）。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345643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41248" y="3401568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207008" y="3328416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最佳平衡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59536" y="3895344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既能给出宏观回答，又能提供精确、带出处的细节。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61104" y="3108960"/>
            <a:ext cx="345643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53712" y="3401568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919472" y="3328416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分阶段建设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572000" y="3895344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每个阶段都能独立产生价值 —— 收益来得早。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973568" y="3108960"/>
            <a:ext cx="3456432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8100000">
              <a:srgbClr val="1E293B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66176" y="3401568"/>
            <a:ext cx="237744" cy="237744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8631936" y="3328416"/>
            <a:ext cx="25420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证据优先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8284464" y="3895344"/>
            <a:ext cx="28529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全面投入前，先用 PoC 的评分来验证。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最终决定应以 PoC 的证据为准。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98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通俗术语表</a:t>
            </a:r>
            <a:endParaRPr lang="en-US" sz="2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55280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检索式（RAG）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查找最相关的片段，并据此作答。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知识卡片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 跨多页整理、就某一主题写成的总结。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回原文 / 引用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依据真实原文作答 —— 并附上链接。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向量检索（embedding）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按语义匹配，而不只是关键词匹配。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SME（领域专家）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475569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Subject-matter expert，即我们的业务同事。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Confluence 知识助手 — PoC 技术方案（中文版）</dc:title>
  <dc:subject>PptxGenJS Presentation</dc:subject>
  <dc:creator>Ethan</dc:creator>
  <cp:lastModifiedBy>Ethan</cp:lastModifiedBy>
  <cp:revision>1</cp:revision>
  <dcterms:created xsi:type="dcterms:W3CDTF">2026-06-03T10:16:51Z</dcterms:created>
  <dcterms:modified xsi:type="dcterms:W3CDTF">2026-06-03T10:16:51Z</dcterms:modified>
</cp:coreProperties>
</file>